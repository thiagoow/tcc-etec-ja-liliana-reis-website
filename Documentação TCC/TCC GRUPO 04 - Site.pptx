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31"/>
  </p:notesMasterIdLst>
  <p:handoutMasterIdLst>
    <p:handoutMasterId r:id="rId32"/>
  </p:handoutMasterIdLst>
  <p:sldIdLst>
    <p:sldId id="257" r:id="rId2"/>
    <p:sldId id="326" r:id="rId3"/>
    <p:sldId id="327" r:id="rId4"/>
    <p:sldId id="328" r:id="rId5"/>
    <p:sldId id="329" r:id="rId6"/>
    <p:sldId id="282" r:id="rId7"/>
    <p:sldId id="264" r:id="rId8"/>
    <p:sldId id="337" r:id="rId9"/>
    <p:sldId id="338" r:id="rId10"/>
    <p:sldId id="330" r:id="rId11"/>
    <p:sldId id="331" r:id="rId12"/>
    <p:sldId id="283" r:id="rId13"/>
    <p:sldId id="266" r:id="rId14"/>
    <p:sldId id="284" r:id="rId15"/>
    <p:sldId id="268" r:id="rId16"/>
    <p:sldId id="285" r:id="rId17"/>
    <p:sldId id="270" r:id="rId18"/>
    <p:sldId id="286" r:id="rId19"/>
    <p:sldId id="272" r:id="rId20"/>
    <p:sldId id="287" r:id="rId21"/>
    <p:sldId id="295" r:id="rId22"/>
    <p:sldId id="293" r:id="rId23"/>
    <p:sldId id="290" r:id="rId24"/>
    <p:sldId id="298" r:id="rId25"/>
    <p:sldId id="332" r:id="rId26"/>
    <p:sldId id="333" r:id="rId27"/>
    <p:sldId id="288" r:id="rId28"/>
    <p:sldId id="296" r:id="rId29"/>
    <p:sldId id="301" r:id="rId3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F03F2B"/>
    <a:srgbClr val="2B3922"/>
    <a:srgbClr val="2E3722"/>
    <a:srgbClr val="FCF7F1"/>
    <a:srgbClr val="B8D233"/>
    <a:srgbClr val="5CC6D6"/>
    <a:srgbClr val="F8D22F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77" d="100"/>
          <a:sy n="77" d="100"/>
        </p:scale>
        <p:origin x="4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A170B22-A4BB-4708-B0CE-A73E8306129B}" type="datetime1">
              <a:rPr lang="pt-BR" smtClean="0"/>
              <a:t>10/12/2020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6245E56-2EE9-450B-A671-BE5C90BAC91C}" type="datetime1">
              <a:rPr lang="pt-BR" smtClean="0"/>
              <a:t>10/12/2020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Retâ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tâ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tâ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64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0" name="Espaço Reservado para Dat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2F3AF6F7-5911-45C3-BE0F-7F38FEFE43FA}" type="datetime1">
              <a:rPr lang="pt-BR" smtClean="0"/>
              <a:t>10/12/2020</a:t>
            </a:fld>
            <a:endParaRPr lang="en-US" dirty="0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Espaço reservado para o número do slide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38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8C737E-092E-4203-A347-8410086932C6}" type="datetime1">
              <a:rPr lang="pt-BR" smtClean="0"/>
              <a:t>10/12/2020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Retâ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tâ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tâ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64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494319B4-ED34-4D08-91C0-F7E8BD9417E6}" type="datetime1">
              <a:rPr lang="pt-BR" smtClean="0"/>
              <a:t>10/12/2020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D1C28D-3F4C-4305-9CD5-9949626E9ED5}" type="datetime1">
              <a:rPr lang="pt-BR" smtClean="0"/>
              <a:t>10/12/2020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38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5F8630-DFFC-437C-A718-61BE3F548C4E}" type="datetime1">
              <a:rPr lang="pt-BR" smtClean="0"/>
              <a:t>10/12/2020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38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12AD8E-909B-47FE-B3D6-961E1D2E7A49}" type="datetime1">
              <a:rPr lang="pt-BR" smtClean="0"/>
              <a:t>10/12/2020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0BF672-AFC3-4C39-AA84-C1113D4307F1}" type="datetime1">
              <a:rPr lang="pt-BR" smtClean="0"/>
              <a:t>10/12/2020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B01F5550-97CC-4F3B-A34B-FE39BFD06EF0}" type="datetime1">
              <a:rPr lang="pt-BR" smtClean="0"/>
              <a:t>10/12/2020</a:t>
            </a:fld>
            <a:endParaRPr lang="en-US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Espaço Reservado para o Número do Slide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dirty="0"/>
              <a:t>Clique no ícone para adicionar uma imagem</a:t>
            </a:r>
            <a:endParaRPr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7975B8C2-382E-4F5E-B0CE-7E0EEF75E017}" type="datetime1">
              <a:rPr lang="pt-BR" smtClean="0"/>
              <a:t>10/12/2020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38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0C3F0E-1EAD-419A-B8F3-CB7CDE6B1E86}" type="datetime1">
              <a:rPr lang="pt-BR" smtClean="0"/>
              <a:t>10/12/2020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74CCBA-3812-426F-BA8C-8BC3E97D7FB5}" type="datetime1">
              <a:rPr lang="pt-BR" smtClean="0"/>
              <a:t>10/12/2020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tângu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Retâ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tâ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1DF2A3A-30FD-464E-8202-27A276433376}" type="datetime1">
              <a:rPr lang="pt-BR" smtClean="0"/>
              <a:t>10/12/2020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ampliada de um logotipo&#10;&#10;Descrição gerada automaticament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324502" cy="6857990"/>
          </a:xfrm>
          <a:prstGeom prst="rect">
            <a:avLst/>
          </a:prstGeom>
        </p:spPr>
      </p:pic>
      <p:sp>
        <p:nvSpPr>
          <p:cNvPr id="82" name="Retângulo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pt-BR" sz="4400" dirty="0">
                <a:solidFill>
                  <a:schemeClr val="tx1"/>
                </a:solidFill>
              </a:rPr>
              <a:t>D</a:t>
            </a:r>
            <a:r>
              <a:rPr lang="pt-BR" sz="4400">
                <a:solidFill>
                  <a:schemeClr val="tx1"/>
                </a:solidFill>
              </a:rPr>
              <a:t>tcc</a:t>
            </a:r>
            <a:r>
              <a:rPr lang="pt-BR" sz="4400" dirty="0">
                <a:solidFill>
                  <a:schemeClr val="tx1"/>
                </a:solidFill>
              </a:rPr>
              <a:t> grupo 04 </a:t>
            </a:r>
            <a:endParaRPr lang="pt-br" sz="4400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2" y="3509995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pt-BR" sz="1400" dirty="0">
                <a:solidFill>
                  <a:schemeClr val="tx1"/>
                </a:solidFill>
              </a:rPr>
              <a:t>“LILIANA REIS WEBSITE"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87713FEA-691C-43F8-96A5-46F7D9FDCE80}"/>
              </a:ext>
            </a:extLst>
          </p:cNvPr>
          <p:cNvSpPr txBox="1">
            <a:spLocks/>
          </p:cNvSpPr>
          <p:nvPr/>
        </p:nvSpPr>
        <p:spPr>
          <a:xfrm>
            <a:off x="6024369" y="4251627"/>
            <a:ext cx="4775075" cy="559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800" kern="12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pt-BR" sz="1400" dirty="0">
                <a:solidFill>
                  <a:schemeClr val="tx1"/>
                </a:solidFill>
              </a:rPr>
              <a:t>Davi Batista, Felipe Rodrigues, Gabriel Lucca, João Victor, Thiago Silva</a:t>
            </a:r>
            <a:endParaRPr lang="pt-b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Dedicatória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236237686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E4173E-19E2-4CA0-AD01-8CC854110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5924" y="2781730"/>
            <a:ext cx="10600151" cy="1294539"/>
          </a:xfrm>
        </p:spPr>
        <p:txBody>
          <a:bodyPr>
            <a:normAutofit/>
          </a:bodyPr>
          <a:lstStyle/>
          <a:p>
            <a:pPr marL="468630" indent="-285750" algn="just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Primeiramente, dedicamos estre trabalho a Deus, e aos nossos pais, familiares, amigos e outras demais pessoas próximas que nos ajudaram a chegar até aqui. Em segundo lugar, dedicamos este trabalho à toda equipe docente da ETEC Jardim Ângela, e do curso de informática, que muito nos agregaram em conhecimento e em toda nossa vida.</a:t>
            </a:r>
          </a:p>
        </p:txBody>
      </p:sp>
    </p:spTree>
    <p:extLst>
      <p:ext uri="{BB962C8B-B14F-4D97-AF65-F5344CB8AC3E}">
        <p14:creationId xmlns:p14="http://schemas.microsoft.com/office/powerpoint/2010/main" val="232382732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agradecimentos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137404932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E4173E-19E2-4CA0-AD01-8CC854110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5924" y="2282073"/>
            <a:ext cx="10600151" cy="2293853"/>
          </a:xfrm>
        </p:spPr>
        <p:txBody>
          <a:bodyPr>
            <a:noAutofit/>
          </a:bodyPr>
          <a:lstStyle/>
          <a:p>
            <a:pPr marL="468630" indent="-28575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Agradecemos primeiro a Deus por ter nos mantido na trilha certa durante este projeto de pesquisa, com saúde e forças para chegar até aqui. Somos gratos à nossa família, amigos e pessoas próximas pelo apoio que sempre nos deram durante toda a vida. Deixamos um agradecimento especial a nossa orientadora pelo incentivo e pela dedicação do seu tempo ao nosso projeto de pesquisa. Sem ela, não conseguiríamos realizar este trabalho de conclusão de curso. Por último, mas não menos importante, agradecemos à ETEC Jd. Ângela e a todos os professores do nosso curso pela alta qualidade do ensino oferecido.</a:t>
            </a:r>
          </a:p>
        </p:txBody>
      </p:sp>
    </p:spTree>
    <p:extLst>
      <p:ext uri="{BB962C8B-B14F-4D97-AF65-F5344CB8AC3E}">
        <p14:creationId xmlns:p14="http://schemas.microsoft.com/office/powerpoint/2010/main" val="206959022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329088567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E4173E-19E2-4CA0-AD01-8CC854110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192" y="1671844"/>
            <a:ext cx="10343616" cy="351431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Atualmente, a tecnologia e a inovação estão crescendo exponencialmente dentro do nosso cotidiano, principalmente na área profissional.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O grupo produzirá um website para: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Ampliar a divulgação do serviço da profissional;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Apresentar os projetos e trabalhos da cliente;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Propagar os seus contatos, alcançando novas pessoas para apresentar a qualidade dos seus trabalhos.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Colocar em prática os conhecimentos dos integrantes do grupo na área de informática, aprendidos durante o curso técnico realizado na ETEC Jardim Angela.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sz="1500" dirty="0"/>
          </a:p>
        </p:txBody>
      </p:sp>
    </p:spTree>
    <p:extLst>
      <p:ext uri="{BB962C8B-B14F-4D97-AF65-F5344CB8AC3E}">
        <p14:creationId xmlns:p14="http://schemas.microsoft.com/office/powerpoint/2010/main" val="1465577911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BANNER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290664088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5B1AFA-A0C0-48C9-BC14-ACDE0F4C2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606" y="783840"/>
            <a:ext cx="3802788" cy="5290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840304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epígrafe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167366778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E4173E-19E2-4CA0-AD01-8CC854110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2366838"/>
            <a:ext cx="4663440" cy="2124323"/>
          </a:xfrm>
        </p:spPr>
        <p:txBody>
          <a:bodyPr>
            <a:normAutofit/>
          </a:bodyPr>
          <a:lstStyle/>
          <a:p>
            <a:pPr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“Meus filhos terão computadores, sim, mas antes terão livros. Sem livros, sem leitura, os nossos filhos serão incapazes de escrever – inclusive a sua própria história.” </a:t>
            </a:r>
          </a:p>
          <a:p>
            <a:pPr indent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Bill Gates – Cofundador da Microsoft</a:t>
            </a:r>
          </a:p>
        </p:txBody>
      </p:sp>
      <p:pic>
        <p:nvPicPr>
          <p:cNvPr id="6" name="Imagem 5" descr="Homem de camisa azul e gravata olhando para o lado&#10;&#10;Descrição gerada automaticamente">
            <a:extLst>
              <a:ext uri="{FF2B5EF4-FFF2-40B4-BE49-F238E27FC236}">
                <a16:creationId xmlns:a16="http://schemas.microsoft.com/office/drawing/2014/main" id="{10F54537-BF42-4124-8119-E25290A74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655" y="2739224"/>
            <a:ext cx="3935999" cy="37490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1860740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problematização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328215712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E4173E-19E2-4CA0-AD01-8CC854110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2598" y="1593594"/>
            <a:ext cx="10226803" cy="367081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Nossa cliente divulga seus trabalhos por meio de diversas redes sociais, o que implica: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Dificuldades com a questão da organização;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Grande consumo de tempo no envio de imagens.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Sendo assim, ao optar pela construção de um website nossa cliente: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Resolveria seus problemas de envio de imagens e consumo de tempo;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Modernizaria seu trabalho, deixando-o mais profissional.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Deixar passar esta oportunidade, ou concluir que não seria necessário o uso de um website para divulgação, seria renunciar a uma ferramenta útil e que pode realizar uma grande diferença positiva em seu trabalho.</a:t>
            </a:r>
          </a:p>
        </p:txBody>
      </p:sp>
    </p:spTree>
    <p:extLst>
      <p:ext uri="{BB962C8B-B14F-4D97-AF65-F5344CB8AC3E}">
        <p14:creationId xmlns:p14="http://schemas.microsoft.com/office/powerpoint/2010/main" val="230547491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59340307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E4173E-19E2-4CA0-AD01-8CC854110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9470" y="1910269"/>
            <a:ext cx="10353059" cy="3037461"/>
          </a:xfrm>
        </p:spPr>
        <p:txBody>
          <a:bodyPr>
            <a:normAutofit/>
          </a:bodyPr>
          <a:lstStyle/>
          <a:p>
            <a:pPr marL="438150" marR="69215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PT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Objetivo</a:t>
            </a:r>
            <a:r>
              <a:rPr lang="pt-PT" sz="1500" spc="-1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pt-PT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geral:</a:t>
            </a:r>
            <a:endParaRPr lang="pt-BR" sz="15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76835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PT" sz="15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Divulgar o trabalho de nossa cliente por meio de um website, a ser desenvolvido pelo grupo.</a:t>
            </a:r>
            <a:endParaRPr lang="pt-BR" sz="15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38150" marR="69215" indent="-28575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pt-PT" sz="15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Objetivo</a:t>
            </a:r>
            <a:r>
              <a:rPr lang="pt-PT" sz="1500" spc="-1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 específicos:</a:t>
            </a:r>
            <a:endParaRPr lang="pt-BR" sz="15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7747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PT" sz="15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Facilitar o modo como o trabalho é divulgado por meio de um único site, diminuindo o tempo necessário para a divulgação do trabalho da cliente;</a:t>
            </a:r>
            <a:endParaRPr lang="pt-BR" sz="15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7747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pt-PT" sz="1500" dirty="0">
                <a:solidFill>
                  <a:srgbClr val="00206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Modernizar e prossionalizar ainda mais o trabalho realizado pela cliente.</a:t>
            </a:r>
            <a:endParaRPr lang="pt-BR" sz="15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70877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JUSTIFICATIVA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646852755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E4173E-19E2-4CA0-AD01-8CC854110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535" y="2054124"/>
            <a:ext cx="10662930" cy="274975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A tecnologia impacta no ramo profissional de uma pessoa, de uma equipe, e obviamente na estrutura das maiores empresas. É sempre necessário que um bom profissional apele para a modernização de seu negócio.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Com a realização do site, nossa cliente: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Abrirá novas fronteiras a cliente como o encontro com novos parceiros comerciais;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Passará a visão de qualidade e profissionalismo em seus trabalhos;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Aumentará sua credibilidade.</a:t>
            </a:r>
          </a:p>
        </p:txBody>
      </p:sp>
    </p:spTree>
    <p:extLst>
      <p:ext uri="{BB962C8B-B14F-4D97-AF65-F5344CB8AC3E}">
        <p14:creationId xmlns:p14="http://schemas.microsoft.com/office/powerpoint/2010/main" val="3555472664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HIPÓTESE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112970985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E4173E-19E2-4CA0-AD01-8CC854110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2598" y="1926072"/>
            <a:ext cx="10226803" cy="300585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O website a ser realizado pelo grupo, irá: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Reunir os trabalhos da cliente num formato de portifólio, sendo uma ferramenta de divulgação;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Formar uma galeria de trabalhos realizados para demonstrar ao público os seus serviços;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Renuir em apenas um local o número de telefone, e-mail e as redes sociais que anteriormente serviam como meio de divulgação.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A cliente terá uma ferramenta que moderniza o método de divulgação do  seu trabalho de forma profissional, e uma ferramenta de estratégia de ‘Marketing’.</a:t>
            </a:r>
          </a:p>
        </p:txBody>
      </p:sp>
    </p:spTree>
    <p:extLst>
      <p:ext uri="{BB962C8B-B14F-4D97-AF65-F5344CB8AC3E}">
        <p14:creationId xmlns:p14="http://schemas.microsoft.com/office/powerpoint/2010/main" val="3397571492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507873801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desenho&#10;&#10;Descrição gerada automaticamente">
            <a:extLst>
              <a:ext uri="{FF2B5EF4-FFF2-40B4-BE49-F238E27FC236}">
                <a16:creationId xmlns:a16="http://schemas.microsoft.com/office/drawing/2014/main" id="{679624CD-004C-4278-85AC-BB57C00D9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416" y="1750758"/>
            <a:ext cx="2387705" cy="3356484"/>
          </a:xfrm>
          <a:prstGeom prst="rect">
            <a:avLst/>
          </a:prstGeom>
        </p:spPr>
      </p:pic>
      <p:pic>
        <p:nvPicPr>
          <p:cNvPr id="10" name="Imagem 9" descr="Uma imagem contendo desenho&#10;&#10;Descrição gerada automaticamente">
            <a:extLst>
              <a:ext uri="{FF2B5EF4-FFF2-40B4-BE49-F238E27FC236}">
                <a16:creationId xmlns:a16="http://schemas.microsoft.com/office/drawing/2014/main" id="{3622B291-8061-4437-8C14-35E4BA5A0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09" y="1741835"/>
            <a:ext cx="2376272" cy="3365407"/>
          </a:xfrm>
          <a:prstGeom prst="rect">
            <a:avLst/>
          </a:prstGeom>
        </p:spPr>
      </p:pic>
      <p:pic>
        <p:nvPicPr>
          <p:cNvPr id="12" name="Imagem 11" descr="Uma imagem contendo placa, desenho, placar, relógio&#10;&#10;Descrição gerada automaticamente">
            <a:extLst>
              <a:ext uri="{FF2B5EF4-FFF2-40B4-BE49-F238E27FC236}">
                <a16:creationId xmlns:a16="http://schemas.microsoft.com/office/drawing/2014/main" id="{AE60FD57-08CD-4C63-BD48-4EB3AAA35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757" y="1741835"/>
            <a:ext cx="2376272" cy="335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36783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LILIANA REIS WEBSITE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3043728067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Cronograma</a:t>
            </a:r>
            <a:br>
              <a:rPr lang="pt-BR" dirty="0"/>
            </a:br>
            <a:r>
              <a:rPr lang="pt-BR" dirty="0"/>
              <a:t>1º semestre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2773503567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1">
            <a:extLst>
              <a:ext uri="{FF2B5EF4-FFF2-40B4-BE49-F238E27FC236}">
                <a16:creationId xmlns:a16="http://schemas.microsoft.com/office/drawing/2014/main" id="{23CF09AB-D818-41A8-A629-0258273038E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8637174"/>
              </p:ext>
            </p:extLst>
          </p:nvPr>
        </p:nvGraphicFramePr>
        <p:xfrm>
          <a:off x="2648408" y="794578"/>
          <a:ext cx="6895183" cy="52688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7384">
                  <a:extLst>
                    <a:ext uri="{9D8B030D-6E8A-4147-A177-3AD203B41FA5}">
                      <a16:colId xmlns:a16="http://schemas.microsoft.com/office/drawing/2014/main" val="2529812012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2776469198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3881529852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754020340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186503477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3047592012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2534119506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3596289986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2754283085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2546170225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1133955051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377034525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520006168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1206694054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704135674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886321376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951316065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1387442610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675034152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3130796682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1048233542"/>
                    </a:ext>
                  </a:extLst>
                </a:gridCol>
                <a:gridCol w="872862">
                  <a:extLst>
                    <a:ext uri="{9D8B030D-6E8A-4147-A177-3AD203B41FA5}">
                      <a16:colId xmlns:a16="http://schemas.microsoft.com/office/drawing/2014/main" val="3222940439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727711646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3495484694"/>
                    </a:ext>
                  </a:extLst>
                </a:gridCol>
                <a:gridCol w="170525">
                  <a:extLst>
                    <a:ext uri="{9D8B030D-6E8A-4147-A177-3AD203B41FA5}">
                      <a16:colId xmlns:a16="http://schemas.microsoft.com/office/drawing/2014/main" val="240737702"/>
                    </a:ext>
                  </a:extLst>
                </a:gridCol>
                <a:gridCol w="872862">
                  <a:extLst>
                    <a:ext uri="{9D8B030D-6E8A-4147-A177-3AD203B41FA5}">
                      <a16:colId xmlns:a16="http://schemas.microsoft.com/office/drawing/2014/main" val="163075409"/>
                    </a:ext>
                  </a:extLst>
                </a:gridCol>
              </a:tblGrid>
              <a:tr h="139786">
                <a:tc gridSpan="2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Planejamento do TCC 1º semestre de 2020 </a:t>
                      </a:r>
                      <a:endParaRPr lang="pt-BR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136662"/>
                  </a:ext>
                </a:extLst>
              </a:tr>
              <a:tr h="82617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ETAPAS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gridSpan="2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 dirty="0">
                          <a:effectLst/>
                        </a:rPr>
                        <a:t>PERÍODOS</a:t>
                      </a:r>
                      <a:endParaRPr lang="pt-BR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012151"/>
                  </a:ext>
                </a:extLst>
              </a:tr>
              <a:tr h="13467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Jan.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Fev.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Mar.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Abr.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Mai.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Jun.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Responsáveis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4089735253"/>
                  </a:ext>
                </a:extLst>
              </a:tr>
              <a:tr h="19944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Criação de possíveis temas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Grupo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398808098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Definição do tema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X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Grupo junto com a professora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1659893311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Definição do título e funcionalidade do software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X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Grupo junto com a professora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2745272306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Preenchimento do DreamShaper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Grupo junto com a professora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1262197244"/>
                  </a:ext>
                </a:extLst>
              </a:tr>
              <a:tr h="13978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Visitas ao cliente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Grupo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192352255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da introdução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Grupo junto com a professora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1361836967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da problematização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Grupo junto com a professora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2095678563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dos objetivos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Grupo junto com a professora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2792455454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da justificativa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X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Grupo junto com a professora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2116153733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das hipóteses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Grupo junto com a professora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3282403876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da metodologia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Grupo junto com a professora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831554002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dos resultados esperados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Grupo junto com a professora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1298020431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Desenvolvimento do software e website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Alunos divididos por função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3217099105"/>
                  </a:ext>
                </a:extLst>
              </a:tr>
              <a:tr h="13978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Prototipagem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Grupo 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3230558944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do cronograma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Grupo junto com a professora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4052789232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do apêndice e dedicatória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Grupo junto com a professora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3428559099"/>
                  </a:ext>
                </a:extLst>
              </a:tr>
              <a:tr h="302609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Entrega do PTCC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 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Grupo junto com a professora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extLst>
                  <a:ext uri="{0D108BD9-81ED-4DB2-BD59-A6C34878D82A}">
                    <a16:rowId xmlns:a16="http://schemas.microsoft.com/office/drawing/2014/main" val="356689492"/>
                  </a:ext>
                </a:extLst>
              </a:tr>
              <a:tr h="13978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gridSpan="2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Atividades desenvolvidas de acordo com o planejamento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939" marR="33939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63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997213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Cronograma</a:t>
            </a:r>
            <a:br>
              <a:rPr lang="pt-BR" dirty="0"/>
            </a:br>
            <a:r>
              <a:rPr lang="pt-BR" dirty="0"/>
              <a:t>2º semestre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3146691891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8E6A09D-7B74-4AE2-826E-5E632ADC2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792962"/>
              </p:ext>
            </p:extLst>
          </p:nvPr>
        </p:nvGraphicFramePr>
        <p:xfrm>
          <a:off x="3276337" y="1391926"/>
          <a:ext cx="5639326" cy="40741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1503">
                  <a:extLst>
                    <a:ext uri="{9D8B030D-6E8A-4147-A177-3AD203B41FA5}">
                      <a16:colId xmlns:a16="http://schemas.microsoft.com/office/drawing/2014/main" val="552374004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604698019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589390774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86710194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186669444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2559293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383490411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202226996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786921808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165296853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969139332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953784051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421508988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799694152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544297742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436929286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509172915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554427625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719265559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4224320202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750103845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063523932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661286317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378148945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353912908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607941611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55673858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606712656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852672428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195764948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727798786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855122084"/>
                    </a:ext>
                  </a:extLst>
                </a:gridCol>
                <a:gridCol w="113834">
                  <a:extLst>
                    <a:ext uri="{9D8B030D-6E8A-4147-A177-3AD203B41FA5}">
                      <a16:colId xmlns:a16="http://schemas.microsoft.com/office/drawing/2014/main" val="3852986180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697855596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572196651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87353994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608704163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42593268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773632926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122078841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52155131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327700186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3471265899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779515748"/>
                    </a:ext>
                  </a:extLst>
                </a:gridCol>
                <a:gridCol w="113834">
                  <a:extLst>
                    <a:ext uri="{9D8B030D-6E8A-4147-A177-3AD203B41FA5}">
                      <a16:colId xmlns:a16="http://schemas.microsoft.com/office/drawing/2014/main" val="3997680002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4017706257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671936699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160245542"/>
                    </a:ext>
                  </a:extLst>
                </a:gridCol>
                <a:gridCol w="113834">
                  <a:extLst>
                    <a:ext uri="{9D8B030D-6E8A-4147-A177-3AD203B41FA5}">
                      <a16:colId xmlns:a16="http://schemas.microsoft.com/office/drawing/2014/main" val="3845690738"/>
                    </a:ext>
                  </a:extLst>
                </a:gridCol>
                <a:gridCol w="113834">
                  <a:extLst>
                    <a:ext uri="{9D8B030D-6E8A-4147-A177-3AD203B41FA5}">
                      <a16:colId xmlns:a16="http://schemas.microsoft.com/office/drawing/2014/main" val="3606154667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58306601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460312165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647815405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086550387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351809572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692412310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1115891913"/>
                    </a:ext>
                  </a:extLst>
                </a:gridCol>
                <a:gridCol w="113834">
                  <a:extLst>
                    <a:ext uri="{9D8B030D-6E8A-4147-A177-3AD203B41FA5}">
                      <a16:colId xmlns:a16="http://schemas.microsoft.com/office/drawing/2014/main" val="2650324267"/>
                    </a:ext>
                  </a:extLst>
                </a:gridCol>
                <a:gridCol w="578952">
                  <a:extLst>
                    <a:ext uri="{9D8B030D-6E8A-4147-A177-3AD203B41FA5}">
                      <a16:colId xmlns:a16="http://schemas.microsoft.com/office/drawing/2014/main" val="3776597260"/>
                    </a:ext>
                  </a:extLst>
                </a:gridCol>
                <a:gridCol w="69617">
                  <a:extLst>
                    <a:ext uri="{9D8B030D-6E8A-4147-A177-3AD203B41FA5}">
                      <a16:colId xmlns:a16="http://schemas.microsoft.com/office/drawing/2014/main" val="2900610710"/>
                    </a:ext>
                  </a:extLst>
                </a:gridCol>
              </a:tblGrid>
              <a:tr h="285775">
                <a:tc gridSpan="60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800">
                          <a:effectLst/>
                        </a:rPr>
                        <a:t>Planejamento do TCC 2º semestre de 2020 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563872"/>
                  </a:ext>
                </a:extLst>
              </a:tr>
              <a:tr h="117012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ETAPAS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59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PERÍODOS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43862"/>
                  </a:ext>
                </a:extLst>
              </a:tr>
              <a:tr h="1170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Ago.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Set.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Out.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Nov.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Dez.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Responsáveis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573816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da apresentação PTCC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4529074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Apresentação PTCC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34212699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do cronograma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0374750"/>
                  </a:ext>
                </a:extLst>
              </a:tr>
              <a:tr h="33236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Elaborar o modelo conceitual do banco de dados (MER)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35058962"/>
                  </a:ext>
                </a:extLst>
              </a:tr>
              <a:tr h="33236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Elaborar o modelo lógico do banco de dados (DER)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 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57387042"/>
                  </a:ext>
                </a:extLst>
              </a:tr>
              <a:tr h="33236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Elaborar o modelo físico do banco de dados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82254877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do site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1314081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Elaboração do software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endParaRPr lang="pt-BR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6377308"/>
                  </a:ext>
                </a:extLst>
              </a:tr>
              <a:tr h="33236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Entrega do DTCC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 junto com a professora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36968477"/>
                  </a:ext>
                </a:extLst>
              </a:tr>
              <a:tr h="285775"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Apresentação TCC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Grupo 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>
                          <a:effectLst/>
                        </a:rPr>
                        <a:t> 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80953585"/>
                  </a:ext>
                </a:extLst>
              </a:tr>
              <a:tr h="285775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600">
                          <a:effectLst/>
                        </a:rPr>
                        <a:t>X</a:t>
                      </a:r>
                      <a:endParaRPr lang="pt-BR" sz="7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5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700" dirty="0">
                          <a:effectLst/>
                        </a:rPr>
                        <a:t>Atividades desenvolvidas de acordo com o planejamento</a:t>
                      </a:r>
                      <a:endParaRPr lang="pt-BR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217" marR="44217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060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3721445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3636955079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C906AD-23B3-4D97-83A9-B7B690E96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204" y="1531185"/>
            <a:ext cx="10401591" cy="379562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Graças a realização e desenvolvimento projeto, os integrantes do grupo:</a:t>
            </a:r>
          </a:p>
          <a:p>
            <a:pPr marL="182880" marR="0" lvl="0" indent="-182880" algn="just" defTabSz="914400" rtl="0" eaLnBrk="1" fontAlgn="auto" latinLnBrk="0" hangingPunct="1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Colocaram em prática todos os conhecimentos adquiridos durante o curso técnico de informática;</a:t>
            </a:r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marR="0" lvl="0" indent="-182880" algn="just" defTabSz="914400" rtl="0" eaLnBrk="1" fontAlgn="auto" latinLnBrk="0" hangingPunct="1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prstClr val="black">
                  <a:lumMod val="85000"/>
                  <a:lumOff val="15000"/>
                </a:prst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5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Puderam compreender mais de suas habilidades e aspirações no meio profissional;</a:t>
            </a:r>
            <a:endParaRPr lang="pt-B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Conquistaram a experiência de suma importância do trabalho em grupo, e não individual.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Com a entrega do projeto final, nossa cliente: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Irá melhorar o alcance do seu trabalho, e clientela;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Entregará uma melhor exposição de todo o seu portifólio, para possíveis novos clientes;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Poderá manter suas redes sociais, como um meio de contato com clientes e interessados.</a:t>
            </a:r>
          </a:p>
        </p:txBody>
      </p:sp>
    </p:spTree>
    <p:extLst>
      <p:ext uri="{BB962C8B-B14F-4D97-AF65-F5344CB8AC3E}">
        <p14:creationId xmlns:p14="http://schemas.microsoft.com/office/powerpoint/2010/main" val="38260014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AA222-AC85-4C4C-A55C-F801B8DA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56" y="2225552"/>
            <a:ext cx="8933688" cy="2406895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B9762-EBDA-4914-AAB3-E4595AA5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dirty="0"/>
              <a:t>GRUPO 04</a:t>
            </a:r>
          </a:p>
        </p:txBody>
      </p:sp>
    </p:spTree>
    <p:extLst>
      <p:ext uri="{BB962C8B-B14F-4D97-AF65-F5344CB8AC3E}">
        <p14:creationId xmlns:p14="http://schemas.microsoft.com/office/powerpoint/2010/main" val="3529246075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14_TF78438558" id="{EFC388B7-E3E7-46E9-90A0-7401A222EB8A}" vid="{685F28B6-3FA5-49C7-9831-35ED941F70C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</Words>
  <Application>Microsoft Office PowerPoint</Application>
  <PresentationFormat>Widescreen</PresentationFormat>
  <Paragraphs>757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Century Gothic</vt:lpstr>
      <vt:lpstr>Garamond</vt:lpstr>
      <vt:lpstr>Symbol</vt:lpstr>
      <vt:lpstr>Wingdings</vt:lpstr>
      <vt:lpstr>SavonVTI</vt:lpstr>
      <vt:lpstr>Dtcc grupo 04 </vt:lpstr>
      <vt:lpstr>Dedicatória</vt:lpstr>
      <vt:lpstr>Apresentação do PowerPoint</vt:lpstr>
      <vt:lpstr>agradecimentos</vt:lpstr>
      <vt:lpstr>Apresentação do PowerPoint</vt:lpstr>
      <vt:lpstr>introdução</vt:lpstr>
      <vt:lpstr>Apresentação do PowerPoint</vt:lpstr>
      <vt:lpstr>BANNER</vt:lpstr>
      <vt:lpstr>Apresentação do PowerPoint</vt:lpstr>
      <vt:lpstr>epígrafe</vt:lpstr>
      <vt:lpstr>Apresentação do PowerPoint</vt:lpstr>
      <vt:lpstr>problematização</vt:lpstr>
      <vt:lpstr>Apresentação do PowerPoint</vt:lpstr>
      <vt:lpstr>OBJETIVOS</vt:lpstr>
      <vt:lpstr>Apresentação do PowerPoint</vt:lpstr>
      <vt:lpstr>JUSTIFICATIVA</vt:lpstr>
      <vt:lpstr>Apresentação do PowerPoint</vt:lpstr>
      <vt:lpstr>HIPÓTESE</vt:lpstr>
      <vt:lpstr>Apresentação do PowerPoint</vt:lpstr>
      <vt:lpstr>METODOLOGIA</vt:lpstr>
      <vt:lpstr>Apresentação do PowerPoint</vt:lpstr>
      <vt:lpstr>LILIANA REIS WEBSITE</vt:lpstr>
      <vt:lpstr>Cronograma 1º semestre</vt:lpstr>
      <vt:lpstr>Apresentação do PowerPoint</vt:lpstr>
      <vt:lpstr>Cronograma 2º semestre</vt:lpstr>
      <vt:lpstr>Apresentação do PowerPoint</vt:lpstr>
      <vt:lpstr>CONCLUSÃO</vt:lpstr>
      <vt:lpstr>Apresentação do PowerPoint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2020-09-20T15:47:33Z</dcterms:created>
  <dcterms:modified xsi:type="dcterms:W3CDTF">2020-12-10T19:36:02Z</dcterms:modified>
</cp:coreProperties>
</file>